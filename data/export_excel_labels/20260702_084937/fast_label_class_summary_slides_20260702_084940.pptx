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Fast Label Class Summary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Generated: 2026-07-02 08:48:49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640080" y="1188720"/>
            <a:ext cx="4892040" cy="4526280"/>
          </a:xfrm>
          <a:prstGeom prst="roundRect">
            <a:avLst/>
          </a:prstGeom>
          <a:solidFill>
            <a:srgbClr val="EAF2F8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000" b="1">
                <a:solidFill>
                  <a:srgbClr val="1F4E78"/>
                </a:solidFill>
                <a:latin typeface="Arial"/>
              </a:rPr>
              <a:t xml:space="preserve">Projects: 1</a:t>
            </a:r>
            <a:endParaRPr lang="en-US" sz="2000"/>
          </a:p>
          <a:p>
            <a:r>
              <a:rPr lang="en-US" sz="2000">
                <a:solidFill>
                  <a:srgbClr val="1F4E78"/>
                </a:solidFill>
                <a:latin typeface="Arial"/>
              </a:rPr>
              <a:t xml:space="preserve">Groups: 8</a:t>
            </a:r>
            <a:endParaRPr lang="en-US" sz="2000"/>
          </a:p>
          <a:p>
            <a:r>
              <a:rPr lang="en-US" sz="2000">
                <a:solidFill>
                  <a:srgbClr val="1F4E78"/>
                </a:solidFill>
                <a:latin typeface="Arial"/>
              </a:rPr>
              <a:t xml:space="preserve">Instance classes: 40</a:t>
            </a:r>
            <a:endParaRPr lang="en-US" sz="2000"/>
          </a:p>
          <a:p>
            <a:r>
              <a:rPr lang="en-US" sz="2000">
                <a:solidFill>
                  <a:srgbClr val="1F4E78"/>
                </a:solidFill>
                <a:latin typeface="Arial"/>
              </a:rPr>
              <a:t xml:space="preserve">Classify labels: 251</a:t>
            </a:r>
            <a:endParaRPr lang="en-US" sz="2000"/>
          </a:p>
          <a:p>
            <a:r>
              <a:rPr lang="en-US" sz="2000">
                <a:solidFill>
                  <a:srgbClr val="1F4E78"/>
                </a:solidFill>
                <a:latin typeface="Arial"/>
              </a:rPr>
              <a:t xml:space="preserve">Semantic classes: 24</a:t>
            </a:r>
            <a:endParaRPr lang="en-US" sz="2000"/>
          </a:p>
          <a:p>
            <a:r>
              <a:rPr lang="en-US" sz="2000">
                <a:solidFill>
                  <a:srgbClr val="1F4E78"/>
                </a:solidFill>
                <a:latin typeface="Arial"/>
              </a:rPr>
              <a:t xml:space="preserve">All class definitions: 315</a:t>
            </a:r>
            <a:endParaRPr lang="en-US" sz="2000"/>
          </a:p>
          <a:p>
            <a:r>
              <a:rPr lang="en-US" sz="2000">
                <a:solidFill>
                  <a:srgbClr val="1F4E78"/>
                </a:solidFill>
                <a:latin typeface="Arial"/>
              </a:rPr>
              <a:t xml:space="preserve">Data labels counted in Excel: 100512</a:t>
            </a:r>
            <a:endParaRPr lang="en-US" sz="2000"/>
          </a:p>
        </p:txBody>
      </p:sp>
      <p:sp>
        <p:nvSpPr>
          <p:cNvPr id="5" name="Block 5"/>
          <p:cNvSpPr txBox="1"/>
          <p:nvPr/>
        </p:nvSpPr>
        <p:spPr>
          <a:xfrm>
            <a:off x="5806440" y="1188720"/>
            <a:ext cx="571500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>Purpose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>Simple slide deck for sharing class structure.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/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>Includes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>- class type counts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>- group counts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>- class ID and class name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>- classify count per instance class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>- classify labels by parent class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/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Arial"/>
              </a:rPr>
              <a:t xml:space="preserve">Project: Project_Label_Driving_Fire_Trucks_Focus</a:t>
            </a:r>
            <a:endParaRPr lang="en-US" sz="16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 Type Summary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How many class definitions exist in each type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594360" y="1005840"/>
            <a:ext cx="1101852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600">
                <a:solidFill>
                  <a:srgbClr val="263238"/>
                </a:solidFill>
                <a:latin typeface="Consolas"/>
              </a:rPr>
              <a:t xml:space="preserve">Type           | Count    | Meaning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Consolas"/>
              </a:rPr>
              <a:t xml:space="preserve">---------------+----------+-----------------------------------------------------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Consolas"/>
              </a:rPr>
              <a:t xml:space="preserve">Instance       | 40       | Object / box / mask classes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Consolas"/>
              </a:rPr>
              <a:t xml:space="preserve">Classify       | 251      | Labels inside instance classes</a:t>
            </a:r>
            <a:endParaRPr lang="en-US" sz="1600"/>
          </a:p>
          <a:p>
            <a:r>
              <a:rPr lang="en-US" sz="1600">
                <a:solidFill>
                  <a:srgbClr val="263238"/>
                </a:solidFill>
                <a:latin typeface="Consolas"/>
              </a:rPr>
              <a:t xml:space="preserve">Semantic       | 24       | Semantic segmentation classes</a:t>
            </a:r>
            <a:endParaRPr lang="en-US" sz="16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 Overview 1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Counts by group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502920" y="960120"/>
            <a:ext cx="1124712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Group                              | Inst   | CLS    | Sem    | Total</a:t>
            </a:r>
            <a:endParaRPr lang="en-US" sz="1300"/>
          </a:p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-----------------------------------+--------+--------+--------+--------</a:t>
            </a:r>
            <a:endParaRPr lang="en-US" sz="1300"/>
          </a:p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Vehicle                            | 17     | 10     |        | 27</a:t>
            </a:r>
            <a:endParaRPr lang="en-US" sz="1300"/>
          </a:p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Construction vehicle               | 10     |        |        | 10</a:t>
            </a:r>
            <a:endParaRPr lang="en-US" sz="1300"/>
          </a:p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Person                             | 3      |        |        | 3</a:t>
            </a:r>
            <a:endParaRPr lang="en-US" sz="1300"/>
          </a:p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Lane / road marking                |        |        | 20     | 20</a:t>
            </a:r>
            <a:endParaRPr lang="en-US" sz="1300"/>
          </a:p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Traffic sign                       | 7      | 241    |        | 248</a:t>
            </a:r>
            <a:endParaRPr lang="en-US" sz="1300"/>
          </a:p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Traffic light                      | 1      |        |        | 1</a:t>
            </a:r>
            <a:endParaRPr lang="en-US" sz="1300"/>
          </a:p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Other                              | 2      |        |        | 2</a:t>
            </a:r>
            <a:endParaRPr lang="en-US" sz="1300"/>
          </a:p>
          <a:p>
            <a:r>
              <a:rPr lang="en-US" sz="1300">
                <a:solidFill>
                  <a:srgbClr val="263238"/>
                </a:solidFill>
                <a:latin typeface="Consolas"/>
              </a:rPr>
              <a:t xml:space="preserve">Road Infrastructure                |        |        | 4      | 4</a:t>
            </a:r>
            <a:endParaRPr lang="en-US" sz="13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3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Group: Vehicle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Class list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57200" y="896112"/>
            <a:ext cx="113385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Role   | ID     | Class name                                              | CLS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-------+--------+---------------------------------------------------------+------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2      | bicycle_without_riders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4      | motorcycle_without_riders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5      | cars                                                    | 2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6      | pickup_trucks_carrying_goods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7      | pickup_trucks_without_carrying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8      | van                                                     | 2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9      | medium_trucks_carrying_goods                            | 2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10     | medium_trucks_without_carrying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11     | heavy_trucks_carrying_goods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12     | heavy_trucks_without_carrying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13     | container_trucks_carrying_goods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14     | container_trucks_without_carrying_goods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17     | buses_big_12m                                           | 3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18     | three_wheeler_cargo                                     | 1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37     | garbage_truck_small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38     | small_trucks_carrying_goods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39     | small_trucks_without_carrying                           |</a:t>
            </a:r>
            <a:endParaRPr lang="en-US" sz="12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4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Vehicle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5       | cars                             | 5       | cars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5       | cars                             | 2000    | police_vehicles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8       | van                              | 8       | van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8       | van                              | 2001    | ambulances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9       | medium_trucks_carrying_goods     | 9       | medium_trucks_carrying_goods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9       | medium_trucks_carrying_goods     | 2002    | fire_trucks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17      | buses_big_12m                    | 17      | buses_big_12m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17      | buses_big_12m                    | 2003    | buses_mini_7m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17      | buses_big_12m                    | 2004    | buses_medium_9m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18      | three_wheeler_cargo              | 18      | three_wheeler_cargo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5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Group: Construction vehicle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Class list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57200" y="896112"/>
            <a:ext cx="113385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Role   | ID     | Class name                                              | CLS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-------+--------+---------------------------------------------------------+------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19     | excavator   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20     | mobile_crane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21     | road_rollers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22     | tower_crane 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23     | bulldozer   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24     | concrete_mixer_truck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25     | concrete_pump_truck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26     | forklift    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41     | road_paver  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44     | mini_crane                                              |</a:t>
            </a:r>
            <a:endParaRPr lang="en-US" sz="12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6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Group: Person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Class list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57200" y="896112"/>
            <a:ext cx="113385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Role   | ID     | Class name                                              | CLS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-------+--------+---------------------------------------------------------+------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       | person      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1      | bicycle_with_riders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      | motorcycle_with_riders                                  |</a:t>
            </a:r>
            <a:endParaRPr lang="en-US" sz="12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7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Group: Lane / road marking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Class list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57200" y="896112"/>
            <a:ext cx="113385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Role   | ID     | Class name                                              | CLS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-------+--------+---------------------------------------------------------+------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1004   | lane_solid  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1005   | lane_dashed 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1006   | road_marking_arrow_straight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1007   | road_marking_arrow_left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1008   | road_marking_arrow_right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1009   | road_marking_arrow_straight_left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1010   | road_marking_arrow_straight_right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1011   | road_marking_arrow_left_right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1012   | road_marking_arrow_uturn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1013   | road_marking_pedestrian_crossing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1014   | road_marking_stop_line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1015   | road_marking_merging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1016   | road_marking_dividing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1017   | road_marking_speed_reduction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1018   | road_marking_stop_line_square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1019   | road_marking_junction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1020   | road_marking_shoulder_chevron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1021   | road_marking_single_chevron                             |</a:t>
            </a:r>
            <a:endParaRPr lang="en-US" sz="12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8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Group: Lane / road marking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Class list part 2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57200" y="896112"/>
            <a:ext cx="113385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Role   | ID     | Class name                                              | CLS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-------+--------+---------------------------------------------------------+------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1022   | road_marking_rhombus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1023   | road_marking_arrow_left_right_straight                  |</a:t>
            </a:r>
            <a:endParaRPr lang="en-US" sz="12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9</a:t>
            </a:r>
            <a:endParaRPr 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Class list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57200" y="896112"/>
            <a:ext cx="113385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Role   | ID     | Class name                                              | CLS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-------+--------+---------------------------------------------------------+------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30     | traffic_cones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31     | traffic_signs_square                                    | 87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32     | traffic_signs_triangle                                  | 85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33     | traffic_signs_rhombus                                   | 4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34     | traffic_signs_circle                                    | 62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35     | traffic_signs_hexagon                                   | 3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42     | traffic_signs_other_shape                               |</a:t>
            </a:r>
            <a:endParaRPr lang="en-US" sz="12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10</a:t>
            </a:r>
            <a:endParaRPr lang="en-US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31      | traffic_signs_square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2005    | traffic_signs_square_icon_only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2006    | traffic_signs_square_text_only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2007    | traffic_signs_square_icon_text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2008    | traffic_signs_square_icon_only_d~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2009    | traffic_signs_square_icon_only_o~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2010    | traffic_signs_square_icon_only_u~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2011    | traffic_signs_square_icon_only_u~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2012    | traffic_signs_square_icon_only_l~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2013    | traffic_signs_square_icon_only_d~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2015    | traffic_signs_square_icon_only_d~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2016    | traffic_signs_square_icon_only_p~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2017    | traffic_signs_square_icon_only_p~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2018    | traffic_signs_square_icon_only_p~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2019    | traffic_signs_square_icon_only_p~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2020    | traffic_signs_square_icon_only_h~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11</a:t>
            </a:r>
            <a:endParaRPr lang="en-US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2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2021    | traffic_signs_square_icon_only_f~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2022    | traffic_signs_square_icon_only_v~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2023    | traffic_signs_square_icon_only_f~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2024    | traffic_signs_square_icon_only_e~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2025    | traffic_signs_square_icon_only_f~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2026    | traffic_signs_square_icon_only_c~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2027    | traffic_signs_square_telephone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2028    | traffic_signs_square_icon_only_r~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2033    | traffic_signs_square_icon_only_e~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2034    | traffic_signs_square_icon_only_e~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2043    | traffic_signs_square_bus_stop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2086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2087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2088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2089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2090    | traffic_signs_square_icon_text_p~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12</a:t>
            </a:r>
            <a:endParaRPr lang="en-US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3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2091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2092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2093    | traffic_signs_square_icon_text_b~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2094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2095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2096    | traffic_signs_square_icon_text_h~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2097    | traffic_signs_square_icon_text_f~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2098    | traffic_signs_square_icon_text_f~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2099    | traffic_signs_square_icon_text_e~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2100    | traffic_signs_square_icon_text_f~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2101    | traffic_signs_square_icon_text_v~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2102    | traffic_signs_square_icon_text_c~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2103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2104    | traffic_signs_square_icon_text_r~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2105    | traffic_signs_square_icon_text_r~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2106    | traffic_signs_square_icon_text_h~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13</a:t>
            </a:r>
            <a:endParaRPr lang="en-US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4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2107    | traffic_signs_square_icon_text_m~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2108    | traffic_signs_square_icon_text_a~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2109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2110    | traffic_signs_square_icon_text_b~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2111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2112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2113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2114    | traffic_signs_square_icon_text_d~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2115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2116    | traffic_signs_square_icon_text_e~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2117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2118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2119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2120    | traffic_signs_square_icon_text_e~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2121    | traffic_signs_square_icon_text_e~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2122    | traffic_signs_square_icon_text_k~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14</a:t>
            </a:r>
            <a:endParaRPr lang="en-US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5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2123    | traffic_signs_square_icon_text_w~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2124    | traffic_signs_square_icon_text_e~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2125    | traffic_signs_square_icon_text_e~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2126    | traffic_signs_square_icon_text_s~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2127    | traffic_signs_square_icon_text_s~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2128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2129    | traffic_signs_square_icon_text_h~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2130    | traffic_signs_square_icon_text_a~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2131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2132    | traffic_signs_square_icon_text_b~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2133    | traffic_signs_square_icon_text_p~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2134    | traffic_signs_square_icon_text_r~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2135    | traffic_signs_square_icon_text_f~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2136    | traffic_signs_square_icon_text_r~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2137    | traffic_signs_square_icon_text_h~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2138    | traffic_signs_square_icon_text_m~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15</a:t>
            </a:r>
            <a:endParaRPr lang="en-US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6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2139    | traffic_signs_square_icon_text_v~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2140    | traffic_signs_square_icon_text_t~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2180    | traffic_signs_circle_end_vehicle~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2182    | traffic_signs_circle_night_maxim~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2183    | traffic_signs_circle_lane_maximu~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2184    | traffic_signs_circle_vehicle_lan~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31      | traffic_signs_square             | 2185    | traffic_signs_circle_end_lane_ma~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32      | traffic_signs_triangle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2014    | traffic_signs_triangle_icon_only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2207    | traffic_signs_triangle_dangerous~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2208    | traffic_signs_triangle_dangerous~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2209    | traffic_signs_triangle_rollover_~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2210    | traffic_signs_triangle_rollover_~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2211    | traffic_signs_triangle_multiple_~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2212    | traffic_signs_triangle_multiple_~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2213    | traffic_signs_triangle_road_narr~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16</a:t>
            </a:r>
            <a:endParaRPr lang="en-US"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7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2214    | traffic_signs_triangle_road_narr~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2215    | traffic_signs_triangle_road_narr~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2216    | traffic_signs_triangle_two_way_t~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2217    | traffic_signs_triangle_crossroad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2218    | traffic_signs_triangle_side_road~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2219    | traffic_signs_triangle_side_road~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2220    | traffic_signs_triangle_t_junction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2221    | traffic_signs_triangle_y_junction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2222    | traffic_signs_triangle_roundabou~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2223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2224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2225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2226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2227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2228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2229    | traffic_signs_triangle_minor_roa~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17</a:t>
            </a:r>
            <a:endParaRPr lang="en-US" sz="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8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2230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2231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2232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2233    | traffic_signs_triangle_minor_roa~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2234    | traffic_signs_triangle_yield_to_~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2235    | traffic_signs_triangle_traffic_l~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2236    | traffic_signs_triangle_railway_c~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2237    | traffic_signs_triangle_railway_c~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2238    | traffic_signs_triangle_narrow_br~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2239    | traffic_signs_triangle_temporary~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2240    | traffic_signs_triangle_drawbridge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2241    | traffic_signs_triangle_embankmen~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2242    | traffic_signs_triangle_deep_drop~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2243    | traffic_signs_triangle_deep_drop~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2244    | traffic_signs_triangle_ford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2245    | traffic_signs_triangle_ford_flas~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18</a:t>
            </a:r>
            <a:endParaRPr lang="en-US" sz="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9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2246    | traffic_signs_triangle_ferry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2247    | traffic_signs_triangle_low_clear~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2248    | traffic_signs_triangle_steep_des~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2249    | traffic_signs_triangle_steep_asc~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2250    | traffic_signs_triangle_uneven_ro~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2251    | traffic_signs_triangle_speed_bump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2252    | traffic_signs_triangle_slippery_~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2253    | traffic_signs_triangle_dangerous~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2254    | traffic_signs_triangle_dangerous~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2255    | traffic_signs_triangle_dangerous~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2256    | traffic_signs_triangle_pedestria~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2257    | traffic_signs_triangle_children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2258    | traffic_signs_triangle_bicycle_c~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2259    | traffic_signs_triangle_roadworks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2260    | traffic_signs_triangle_falling_r~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2261    | traffic_signs_triangle_falling_r~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19</a:t>
            </a:r>
            <a:endParaRPr lang="en-US" sz="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10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2262    | traffic_signs_triangle_loose_chi~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2263    | traffic_signs_triangle_weak_road~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2264    | traffic_signs_triangle_aircraft_~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2265    | traffic_signs_triangle_cattle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2266    | traffic_signs_triangle_wild_anim~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2267    | traffic_signs_triangle_crosswind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2268    | traffic_signs_triangle_other_dan~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2269    | traffic_signs_triangle_two_way_r~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2270    | traffic_signs_triangle_dual_carr~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2271    | traffic_signs_triangle_end_of_du~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2272    | traffic_signs_triangle_hump_brid~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2273    | traffic_signs_triangle_expresswa~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2274    | traffic_signs_triangle_overhead_~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2275    | traffic_signs_triangle_actual_cl~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2276    | traffic_signs_triangle_tunnel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2277    | traffic_signs_triangle_traffic_c~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20</a:t>
            </a:r>
            <a:endParaRPr lang="en-US" sz="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11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2278    | traffic_signs_triangle_perpendic~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2279    | traffic_signs_triangle_perpendic~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2280    | traffic_signs_triangle_oblique_r~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2281    | traffic_signs_triangle_oblique_r~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2282    | traffic_signs_triangle_oblique_r~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2283    | traffic_signs_triangle_accident_~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2284    | traffic_signs_triangle_obstacle_~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2285    | traffic_signs_triangle_obstacle_~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2286    | traffic_signs_triangle_obstacle_~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2287    | traffic_signs_triangle_parked_ve~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2288    | traffic_signs_triangle_text_only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32      | traffic_signs_triangle           | 2289    | traffic_signs_triangle_text_only~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33      | traffic_signs_rhombus            | 33      | traffic_signs_rhombus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33      | traffic_signs_rhombus            | 2291    | traffic_signs_rhombus_icon_only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33      | traffic_signs_rhombus            | 2292    | traffic_signs_rhombus_priority_r~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33      | traffic_signs_rhombus            | 2293    | traffic_signs_rhombus_priority_r~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21</a:t>
            </a:r>
            <a:endParaRPr lang="en-US" sz="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12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34      | traffic_signs_circle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2141    | traffic_signs_circle_no_entry_wr~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2142    | traffic_signs_circle_no_cars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2143    | traffic_signs_circle_no_cars_tur~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2144    | traffic_signs_circle_no_cars_tur~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2145    | traffic_signs_circle_no_motorcyc~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2146    | traffic_signs_circle_no_cars_and~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2147    | traffic_signs_circle_no_trucks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2148    | traffic_signs_circle_no_trucks_o~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2149    | traffic_signs_circle_no_dangerou~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2150    | traffic_signs_circle_no_buses_an~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2151    | traffic_signs_circle_no_buses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2152    | traffic_signs_circle_no_taxis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2153    | traffic_signs_circle_no_trailer_~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2154    | traffic_signs_circle_no_semitrai~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2155    | traffic_signs_circle_no_tractors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22</a:t>
            </a:r>
            <a:endParaRPr lang="en-US" sz="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13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2156    | traffic_signs_circle_no_bicycles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2157    | traffic_signs_circle_no_cargo_bi~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2158    | traffic_signs_circle_no_mopeds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2159    | traffic_signs_circle_no_motorize~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2160    | traffic_signs_circle_no_non_moto~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2161    | traffic_signs_circle_no_pedestri~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2162    | traffic_signs_circle_no_handcarts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2163    | traffic_signs_circle_no_animal_d~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2164    | traffic_signs_circle_maximum_gro~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2165    | traffic_signs_circle_maximum_axl~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2166    | traffic_signs_circle_maximum_hei~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2167    | traffic_signs_circle_maximum_wid~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2168    | traffic_signs_circle_maximum_veh~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2169    | traffic_signs_circle_maximum_com~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2170    | traffic_signs_circle_minimum_dis~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2171    | traffic_signs_circle_no_left_turn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23</a:t>
            </a:r>
            <a:endParaRPr lang="en-US" sz="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14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2172    | traffic_signs_circle_no_right_tu~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2173    | traffic_signs_circle_no_u_turn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2174    | traffic_signs_circle_no_car_u_tu~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2175    | traffic_signs_circle_no_left_tur~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2176    | traffic_signs_circle_no_right_tu~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2177    | traffic_signs_circle_no_car_left~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2178    | traffic_signs_circle_no_car_righ~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2179    | traffic_signs_circle_no_overtaki~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2181    | traffic_signs_circle_maximum_spe~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2186    | traffic_signs_circle_no_horn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2187    | traffic_signs_circle_checkpoint_~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2188    | traffic_signs_circle_no_stopping~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2189    | traffic_signs_circle_no_parking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2190    | traffic_signs_circle_no_parking_~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2191    | traffic_signs_circle_no_parking_~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2192    | traffic_signs_circle_give_way_to~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24</a:t>
            </a:r>
            <a:endParaRPr lang="en-US" sz="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15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2193    | traffic_signs_circle_end_no_over~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2194    | traffic_signs_circle_end_maximum~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2195    | traffic_signs_circle_end_all_res~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2196    | traffic_signs_circle_no_straight~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2197    | traffic_signs_circle_no_left_and~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2198    | traffic_signs_circle_no_straight~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2199    | traffic_signs_circle_no_straight~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2200    | traffic_signs_circle_no_farm_veh~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2201    | traffic_signs_circle_icon_only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2202    | traffic_signs_circle_text_only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2203    | traffic_signs_circle_icon_text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2204    | traffic_signs_circle_minium_spee~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2205    | traffic_signs_circle_end_minium_~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34      | traffic_signs_circle             | 2206    | traffic_signs_circle_road_closed~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35      | traffic_signs_hexagon            | 35      | traffic_signs_hexagon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35      | traffic_signs_hexagon            | 2295    | traffic_signs_hexagon_text_only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25</a:t>
            </a:r>
            <a:endParaRPr lang="en-US" sz="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Classify Labels: Traffic sign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Parent to classify labels part 16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11480" y="896112"/>
            <a:ext cx="114300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Parent  | Parent class                     | CLS ID  | CLS name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--------+----------------------------------+---------+----------------------------------</a:t>
            </a:r>
            <a:endParaRPr lang="en-US" sz="1100"/>
          </a:p>
          <a:p>
            <a:r>
              <a:rPr lang="en-US" sz="1100">
                <a:solidFill>
                  <a:srgbClr val="263238"/>
                </a:solidFill>
                <a:latin typeface="Consolas"/>
              </a:rPr>
              <a:t xml:space="preserve">35      | traffic_signs_hexagon            | 2296    | traffic_signs_hexagon_text_only_~</a:t>
            </a:r>
            <a:endParaRPr lang="en-US" sz="11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26</a:t>
            </a:r>
            <a:endParaRPr lang="en-US" sz="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Group: Traffic light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Class list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57200" y="896112"/>
            <a:ext cx="113385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Role   | ID     | Class name                                              | CLS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-------+--------+---------------------------------------------------------+------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36     | traffic_lights                                          |</a:t>
            </a:r>
            <a:endParaRPr lang="en-US" sz="12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27</a:t>
            </a:r>
            <a:endParaRPr lang="en-US" sz="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Group: Other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Class list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57200" y="896112"/>
            <a:ext cx="113385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Role   | ID     | Class name                                              | CLS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-------+--------+---------------------------------------------------------+------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40     | object_movable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INST   | 43     | column_road                                             |</a:t>
            </a:r>
            <a:endParaRPr lang="en-US" sz="12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28</a:t>
            </a:r>
            <a:endParaRPr lang="en-US" sz="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4582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2400" b="1">
                <a:solidFill>
                  <a:srgbClr val="1F4E78"/>
                </a:solidFill>
                <a:latin typeface="Arial"/>
              </a:rPr>
              <a:t xml:space="preserve">Group: Road Infrastructure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8458200" y="29260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000">
                <a:solidFill>
                  <a:srgbClr val="607D8B"/>
                </a:solidFill>
                <a:latin typeface="Arial"/>
              </a:rPr>
              <a:t xml:space="preserve">Class list part 1</a:t>
            </a:r>
            <a:endParaRPr lang="en-US" sz="1000"/>
          </a:p>
        </p:txBody>
      </p:sp>
      <p:sp>
        <p:nvSpPr>
          <p:cNvPr id="4" name="Block 4"/>
          <p:cNvSpPr txBox="1"/>
          <p:nvPr/>
        </p:nvSpPr>
        <p:spPr>
          <a:xfrm>
            <a:off x="457200" y="896112"/>
            <a:ext cx="113385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Role   | ID     | Class name                                              | CLS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-------+--------+---------------------------------------------------------+------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1000   | background  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1001   | road_surface     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1002   | sidewalk_pavement                                       |</a:t>
            </a:r>
            <a:endParaRPr lang="en-US" sz="1200"/>
          </a:p>
          <a:p>
            <a:r>
              <a:rPr lang="en-US" sz="1200">
                <a:solidFill>
                  <a:srgbClr val="263238"/>
                </a:solidFill>
                <a:latin typeface="Consolas"/>
              </a:rPr>
              <a:t xml:space="preserve">SEM    | 1003   | curb_road_edge                                          |</a:t>
            </a:r>
            <a:endParaRPr lang="en-US" sz="1200"/>
          </a:p>
        </p:txBody>
      </p:sp>
      <p:sp>
        <p:nvSpPr>
          <p:cNvPr id="99" name="SlideNo"/>
          <p:cNvSpPr txBox="1"/>
          <p:nvPr/>
        </p:nvSpPr>
        <p:spPr>
          <a:xfrm>
            <a:off x="11064240" y="6419088"/>
            <a:ext cx="658368" cy="2103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73152" rIns="91440" bIns="73152">
            <a:normAutofit fontScale="85000"/>
          </a:bodyPr>
          <a:lstStyle/>
          <a:p>
            <a:r>
              <a:rPr lang="en-US" sz="800">
                <a:solidFill>
                  <a:srgbClr val="8A94A3"/>
                </a:solidFill>
                <a:latin typeface="Arial"/>
              </a:rPr>
              <a:t xml:space="preserve">29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Label">
  <a:themeElements>
    <a:clrScheme name="FastLabel">
      <a:dk1>
        <a:srgbClr val="263238"/>
      </a:dk1>
      <a:lt1>
        <a:srgbClr val="FFFFFF"/>
      </a:lt1>
      <a:dk2>
        <a:srgbClr val="1F4E78"/>
      </a:dk2>
      <a:lt2>
        <a:srgbClr val="F8FAFC"/>
      </a:lt2>
      <a:accent1>
        <a:srgbClr val="1F77B4"/>
      </a:accent1>
      <a:accent2>
        <a:srgbClr val="70AD47"/>
      </a:accent2>
      <a:accent3>
        <a:srgbClr val="F4B183"/>
      </a:accent3>
      <a:accent4>
        <a:srgbClr val="5B4636"/>
      </a:accent4>
      <a:accent5>
        <a:srgbClr val="607D8B"/>
      </a:accent5>
      <a:accent6>
        <a:srgbClr val="8A94A3"/>
      </a:accent6>
      <a:hlink>
        <a:srgbClr val="0563C1"/>
      </a:hlink>
      <a:folHlink>
        <a:srgbClr val="954F72"/>
      </a:folHlink>
    </a:clrScheme>
    <a:fontScheme name="Arial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Fast Label Pro</Application>
  <PresentationFormat>On-screen Show (16:9)</PresentationFormat>
  <Slides>29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Label Class Summary</dc:title>
  <dc:creator>Fast Label Pro</dc:creator>
  <dcterms:created xsi:type="dcterms:W3CDTF">2026-07-02T01:49:40Z</dcterms:created>
</cp:coreProperties>
</file>